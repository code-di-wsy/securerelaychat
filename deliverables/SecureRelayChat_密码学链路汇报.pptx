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3819A"/>
                </a:solidFill>
                <a:latin typeface="Microsoft YaHei"/>
              </a:rPr>
              <a:t>SECURE RELAY CHAT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8412480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SecureRelayChat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828800"/>
            <a:ext cx="82296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8D7C3"/>
                </a:solidFill>
                <a:latin typeface="Microsoft YaHei"/>
              </a:rPr>
              <a:t>从密钥协商到消息认证的端到端加密演示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60320"/>
            <a:ext cx="4572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AB7CF"/>
                </a:solidFill>
                <a:latin typeface="Microsoft YaHei"/>
              </a:rPr>
              <a:t>密码学知识汇报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8138160" y="2130552"/>
            <a:ext cx="548640" cy="704088"/>
          </a:xfrm>
          <a:prstGeom prst="line">
            <a:avLst/>
          </a:prstGeom>
          <a:ln w="22860">
            <a:solidFill>
              <a:srgbClr val="28D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692640" y="2130552"/>
            <a:ext cx="457200" cy="704088"/>
          </a:xfrm>
          <a:prstGeom prst="line">
            <a:avLst/>
          </a:prstGeom>
          <a:ln w="22860">
            <a:solidFill>
              <a:srgbClr val="28D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955279" y="1463040"/>
            <a:ext cx="2377440" cy="658368"/>
          </a:xfrm>
          <a:prstGeom prst="roundRect">
            <a:avLst/>
          </a:prstGeom>
          <a:solidFill>
            <a:srgbClr val="1A2B49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8D7C3"/>
                </a:solidFill>
                <a:latin typeface="Microsoft YaHei"/>
              </a:rPr>
              <a:t>不可信中继服务器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834640"/>
            <a:ext cx="1645920" cy="658368"/>
          </a:xfrm>
          <a:prstGeom prst="roundRect">
            <a:avLst/>
          </a:prstGeom>
          <a:solidFill>
            <a:srgbClr val="183C4A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客户端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834640"/>
            <a:ext cx="1645920" cy="658368"/>
          </a:xfrm>
          <a:prstGeom prst="roundRect">
            <a:avLst/>
          </a:prstGeom>
          <a:solidFill>
            <a:srgbClr val="183C4A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客户端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3819A"/>
                </a:solidFill>
                <a:latin typeface="Microsoft YaHei"/>
              </a:rPr>
              <a:t>SECURE RELAY CHAT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项目面对的安全问题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051560" cy="45720"/>
          </a:xfrm>
          <a:prstGeom prst="rect">
            <a:avLst/>
          </a:prstGeom>
          <a:solidFill>
            <a:srgbClr val="28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AB7CF"/>
                </a:solidFill>
                <a:latin typeface="Microsoft YaHei"/>
              </a:rPr>
              <a:t>把网络风险拆成四个密码学问题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400800" cy="3383280"/>
          </a:xfrm>
          <a:prstGeom prst="rect">
            <a:avLst/>
          </a:prstGeom>
          <a:noFill/>
        </p:spPr>
        <p:txBody>
          <a:bodyPr wrap="square" lIns="109728" rIns="45720">
            <a:spAutoFit/>
          </a:bodyPr>
          <a:lstStyle/>
          <a:p>
            <a:pPr marL="360" indent="-180">
              <a:spcAft>
                <a:spcPts val="800"/>
              </a:spcAft>
              <a:defRPr sz="2000">
                <a:solidFill>
                  <a:srgbClr val="DCE6F5"/>
                </a:solidFill>
                <a:latin typeface="Microsoft YaHei"/>
              </a:defRPr>
            </a:pPr>
            <a:r>
              <a:t>•  服务器可以转发和记录网络帧，但不应该看到消息明文</a:t>
            </a:r>
          </a:p>
          <a:p>
            <a:pPr marL="360" indent="-180">
              <a:spcAft>
                <a:spcPts val="800"/>
              </a:spcAft>
              <a:defRPr sz="2000">
                <a:solidFill>
                  <a:srgbClr val="DCE6F5"/>
                </a:solidFill>
                <a:latin typeface="Microsoft YaHei"/>
              </a:defRPr>
            </a:pPr>
            <a:r>
              <a:t>•  攻击者可能篡改密文，也可能替换对方公钥</a:t>
            </a:r>
          </a:p>
          <a:p>
            <a:pPr marL="360" indent="-180">
              <a:spcAft>
                <a:spcPts val="800"/>
              </a:spcAft>
              <a:defRPr sz="2000">
                <a:solidFill>
                  <a:srgbClr val="DCE6F5"/>
                </a:solidFill>
                <a:latin typeface="Microsoft YaHei"/>
              </a:defRPr>
            </a:pPr>
            <a:r>
              <a:t>•  客户端需要知道消息来自谁，并确认对方身份没有被冒充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200400" cy="804672"/>
          </a:xfrm>
          <a:prstGeom prst="roundRect">
            <a:avLst/>
          </a:prstGeom>
          <a:solidFill>
            <a:srgbClr val="183C4A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保密性
别人看不懂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514600"/>
            <a:ext cx="3200400" cy="804672"/>
          </a:xfrm>
          <a:prstGeom prst="roundRect">
            <a:avLst/>
          </a:prstGeom>
          <a:solidFill>
            <a:srgbClr val="1A2B49"/>
          </a:solidFill>
          <a:ln w="12700">
            <a:solidFill>
              <a:srgbClr val="6B8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完整性
改了就能发现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520440"/>
            <a:ext cx="3200400" cy="804672"/>
          </a:xfrm>
          <a:prstGeom prst="roundRect">
            <a:avLst/>
          </a:prstGeom>
          <a:solidFill>
            <a:srgbClr val="3A2F25"/>
          </a:solidFill>
          <a:ln w="12700">
            <a:solidFill>
              <a:srgbClr val="E78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来源认证
知道是谁发的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526280"/>
            <a:ext cx="3200400" cy="804672"/>
          </a:xfrm>
          <a:prstGeom prst="roundRect">
            <a:avLst/>
          </a:prstGeom>
          <a:solidFill>
            <a:srgbClr val="28344D"/>
          </a:solidFill>
          <a:ln w="12700">
            <a:solidFill>
              <a:srgbClr val="B6C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身份确认
发现中间人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3819A"/>
                </a:solidFill>
                <a:latin typeface="Microsoft YaHei"/>
              </a:rPr>
              <a:t>SECURE RELAY CHAT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四层密码学链路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051560" cy="45720"/>
          </a:xfrm>
          <a:prstGeom prst="rect">
            <a:avLst/>
          </a:prstGeom>
          <a:solidFill>
            <a:srgbClr val="28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AB7CF"/>
                </a:solidFill>
                <a:latin typeface="Microsoft YaHei"/>
              </a:rPr>
              <a:t>每个算法只承担一个清晰职责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1783080" cy="1143000"/>
          </a:xfrm>
          <a:prstGeom prst="roundRect">
            <a:avLst/>
          </a:prstGeom>
          <a:solidFill>
            <a:srgbClr val="183C4A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X25519
共同秘密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852928"/>
            <a:ext cx="411480" cy="0"/>
          </a:xfrm>
          <a:prstGeom prst="line">
            <a:avLst/>
          </a:prstGeom>
          <a:ln w="19050"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2286000"/>
            <a:ext cx="1783080" cy="1143000"/>
          </a:xfrm>
          <a:prstGeom prst="roundRect">
            <a:avLst/>
          </a:prstGeom>
          <a:solidFill>
            <a:srgbClr val="1A2B49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HKDF-SHA256
会话密钥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2852928"/>
            <a:ext cx="411480" cy="0"/>
          </a:xfrm>
          <a:prstGeom prst="line">
            <a:avLst/>
          </a:prstGeom>
          <a:ln w="19050"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83480" y="2286000"/>
            <a:ext cx="1783080" cy="1143000"/>
          </a:xfrm>
          <a:prstGeom prst="roundRect">
            <a:avLst/>
          </a:prstGeom>
          <a:solidFill>
            <a:srgbClr val="183C4A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AES-256-GCM
加密与完整性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66560" y="2852928"/>
            <a:ext cx="411480" cy="0"/>
          </a:xfrm>
          <a:prstGeom prst="line">
            <a:avLst/>
          </a:prstGeom>
          <a:ln w="19050"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78040" y="2286000"/>
            <a:ext cx="1783080" cy="1143000"/>
          </a:xfrm>
          <a:prstGeom prst="roundRect">
            <a:avLst/>
          </a:prstGeom>
          <a:solidFill>
            <a:srgbClr val="3A2F25"/>
          </a:solidFill>
          <a:ln w="12700">
            <a:solidFill>
              <a:srgbClr val="E78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Ed25519
消息来源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19" y="2852928"/>
            <a:ext cx="411481" cy="0"/>
          </a:xfrm>
          <a:prstGeom prst="line">
            <a:avLst/>
          </a:prstGeom>
          <a:ln w="19050"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72600" y="2286000"/>
            <a:ext cx="1783080" cy="1143000"/>
          </a:xfrm>
          <a:prstGeom prst="roundRect">
            <a:avLst/>
          </a:prstGeom>
          <a:solidFill>
            <a:srgbClr val="28344D"/>
          </a:solidFill>
          <a:ln w="12700">
            <a:solidFill>
              <a:srgbClr val="E78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安全码
人工确认身份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8D7C3"/>
                </a:solidFill>
                <a:latin typeface="Microsoft YaHei"/>
              </a:rPr>
              <a:t>握手阶段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794760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78E42"/>
                </a:solidFill>
                <a:latin typeface="Microsoft YaHei"/>
              </a:rPr>
              <a:t>消息阶段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79476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6C7E5"/>
                </a:solidFill>
                <a:latin typeface="Microsoft YaHei"/>
              </a:rPr>
              <a:t>用户确认阶段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892040"/>
            <a:ext cx="80467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服务器只转发 relay 帧，密码学处理全部在客户端完成。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3819A"/>
                </a:solidFill>
                <a:latin typeface="Microsoft YaHei"/>
              </a:rPr>
              <a:t>SECURE RELAY CHAT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身份密钥与临时密钥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051560" cy="45720"/>
          </a:xfrm>
          <a:prstGeom prst="rect">
            <a:avLst/>
          </a:prstGeom>
          <a:solidFill>
            <a:srgbClr val="28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AB7CF"/>
                </a:solidFill>
                <a:latin typeface="Microsoft YaHei"/>
              </a:rPr>
              <a:t>长期身份负责‘是谁’，临时密钥负责‘这一次会话’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2880360" cy="1828800"/>
          </a:xfrm>
          <a:prstGeom prst="roundRect">
            <a:avLst/>
          </a:prstGeom>
          <a:solidFill>
            <a:srgbClr val="1A2B49"/>
          </a:solidFill>
          <a:ln w="12700">
            <a:solidFill>
              <a:srgbClr val="6B8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长期身份
Ed25519 私钥
X25519 身份私钥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45920"/>
            <a:ext cx="2880360" cy="1828800"/>
          </a:xfrm>
          <a:prstGeom prst="roundRect">
            <a:avLst/>
          </a:prstGeom>
          <a:solidFill>
            <a:srgbClr val="183C4A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单次会话
X25519 临时私钥
内存中存在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645920"/>
            <a:ext cx="2880360" cy="1828800"/>
          </a:xfrm>
          <a:prstGeom prst="roundRect">
            <a:avLst/>
          </a:prstGeom>
          <a:solidFill>
            <a:srgbClr val="3A2F25"/>
          </a:solidFill>
          <a:ln w="12700">
            <a:solidFill>
              <a:srgbClr val="E78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消息保护
AES 会话密钥
退出时清空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2560320"/>
            <a:ext cx="868680" cy="0"/>
          </a:xfrm>
          <a:prstGeom prst="line">
            <a:avLst/>
          </a:prstGeom>
          <a:ln w="19050"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06640" y="2560320"/>
            <a:ext cx="868680" cy="0"/>
          </a:xfrm>
          <a:prstGeom prst="line">
            <a:avLst/>
          </a:prstGeom>
          <a:ln w="19050"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069080"/>
            <a:ext cx="10058400" cy="1463040"/>
          </a:xfrm>
          <a:prstGeom prst="rect">
            <a:avLst/>
          </a:prstGeom>
          <a:noFill/>
        </p:spPr>
        <p:txBody>
          <a:bodyPr wrap="square" lIns="109728" rIns="45720">
            <a:spAutoFit/>
          </a:bodyPr>
          <a:lstStyle/>
          <a:p>
            <a:pPr marL="360" indent="-180">
              <a:spcAft>
                <a:spcPts val="800"/>
              </a:spcAft>
              <a:defRPr sz="1800">
                <a:solidFill>
                  <a:srgbClr val="DCE6F5"/>
                </a:solidFill>
                <a:latin typeface="Microsoft YaHei"/>
              </a:defRPr>
            </a:pPr>
            <a:r>
              <a:t>•  长期私钥保存在本地 .keys 目录，不发送给服务器</a:t>
            </a:r>
          </a:p>
          <a:p>
            <a:pPr marL="360" indent="-180">
              <a:spcAft>
                <a:spcPts val="800"/>
              </a:spcAft>
              <a:defRPr sz="1800">
                <a:solidFill>
                  <a:srgbClr val="DCE6F5"/>
                </a:solidFill>
                <a:latin typeface="Microsoft YaHei"/>
              </a:defRPr>
            </a:pPr>
            <a:r>
              <a:t>•  临时私钥每次会话重新生成，避免所有会话共用同一把密钥</a:t>
            </a:r>
          </a:p>
          <a:p>
            <a:pPr marL="360" indent="-180">
              <a:spcAft>
                <a:spcPts val="800"/>
              </a:spcAft>
              <a:defRPr sz="1800">
                <a:solidFill>
                  <a:srgbClr val="DCE6F5"/>
                </a:solidFill>
                <a:latin typeface="Microsoft YaHei"/>
              </a:defRPr>
            </a:pPr>
            <a:r>
              <a:t>•  项目没有实现 Double Ratchet，因此不提供生产级前向保密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3819A"/>
                </a:solidFill>
                <a:latin typeface="Microsoft YaHei"/>
              </a:rPr>
              <a:t>SECURE RELAY CHAT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X25519 与 HKDF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051560" cy="45720"/>
          </a:xfrm>
          <a:prstGeom prst="rect">
            <a:avLst/>
          </a:prstGeom>
          <a:solidFill>
            <a:srgbClr val="28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AB7CF"/>
                </a:solidFill>
                <a:latin typeface="Microsoft YaHei"/>
              </a:rPr>
              <a:t>双方不直接传输会话密钥，而是各自计算出同一份秘密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965960" cy="1234440"/>
          </a:xfrm>
          <a:prstGeom prst="roundRect">
            <a:avLst/>
          </a:prstGeom>
          <a:solidFill>
            <a:srgbClr val="183C4A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Alice
私钥 a
公钥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828800"/>
            <a:ext cx="1965960" cy="1234440"/>
          </a:xfrm>
          <a:prstGeom prst="roundRect">
            <a:avLst/>
          </a:prstGeom>
          <a:solidFill>
            <a:srgbClr val="183C4A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Bob
私钥 b
公钥 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2450592"/>
            <a:ext cx="6629400" cy="0"/>
          </a:xfrm>
          <a:prstGeom prst="line">
            <a:avLst/>
          </a:prstGeom>
          <a:ln w="25400"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0" y="1993392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B6C7E5"/>
                </a:solidFill>
                <a:latin typeface="Microsoft YaHei"/>
              </a:rPr>
              <a:t>交换 A 与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3429000"/>
            <a:ext cx="2423160" cy="749808"/>
          </a:xfrm>
          <a:prstGeom prst="roundRect">
            <a:avLst/>
          </a:prstGeom>
          <a:solidFill>
            <a:srgbClr val="1A2B49"/>
          </a:solidFill>
          <a:ln w="12700">
            <a:solidFill>
              <a:srgbClr val="6B8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a × B =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429000"/>
            <a:ext cx="2423160" cy="749808"/>
          </a:xfrm>
          <a:prstGeom prst="roundRect">
            <a:avLst/>
          </a:prstGeom>
          <a:solidFill>
            <a:srgbClr val="1A2B49"/>
          </a:solidFill>
          <a:ln w="12700">
            <a:solidFill>
              <a:srgbClr val="6B8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b × A =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4754880"/>
            <a:ext cx="3886200" cy="960120"/>
          </a:xfrm>
          <a:prstGeom prst="roundRect">
            <a:avLst/>
          </a:prstGeom>
          <a:solidFill>
            <a:srgbClr val="3A2F25"/>
          </a:solidFill>
          <a:ln w="12700">
            <a:solidFill>
              <a:srgbClr val="E78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HKDF-SHA256
S + salt + info
32 字节 session_key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870448"/>
            <a:ext cx="80467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8D7C3"/>
                </a:solidFill>
                <a:latin typeface="Microsoft YaHei"/>
              </a:rPr>
              <a:t>旁观者看到 A、B，但没有 a、b，难以得到 S。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3819A"/>
                </a:solidFill>
                <a:latin typeface="Microsoft YaHei"/>
              </a:rPr>
              <a:t>SECURE RELAY CHAT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AES-256-GCM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051560" cy="45720"/>
          </a:xfrm>
          <a:prstGeom prst="rect">
            <a:avLst/>
          </a:prstGeom>
          <a:solidFill>
            <a:srgbClr val="28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AB7CF"/>
                </a:solidFill>
                <a:latin typeface="Microsoft YaHei"/>
              </a:rPr>
              <a:t>一次操作同时提供保密性与密文完整性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1600200" cy="685800"/>
          </a:xfrm>
          <a:prstGeom prst="roundRect">
            <a:avLst/>
          </a:prstGeom>
          <a:solidFill>
            <a:srgbClr val="183C4A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明文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600200"/>
            <a:ext cx="2834640" cy="1600200"/>
          </a:xfrm>
          <a:prstGeom prst="roundRect">
            <a:avLst/>
          </a:prstGeom>
          <a:solidFill>
            <a:srgbClr val="1A2B49"/>
          </a:solidFill>
          <a:ln w="12700">
            <a:solidFill>
              <a:srgbClr val="6B8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AES-GCM
32 字节密钥
随机 12 字节 nonce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057400"/>
            <a:ext cx="1828800" cy="685800"/>
          </a:xfrm>
          <a:prstGeom prst="roundRect">
            <a:avLst/>
          </a:prstGeom>
          <a:solidFill>
            <a:srgbClr val="3A2F25"/>
          </a:solidFill>
          <a:ln w="12700">
            <a:solidFill>
              <a:srgbClr val="E78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密文 + tag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2395728"/>
            <a:ext cx="640080" cy="0"/>
          </a:xfrm>
          <a:prstGeom prst="line">
            <a:avLst/>
          </a:prstGeom>
          <a:ln w="22860">
            <a:solidFill>
              <a:srgbClr val="28D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97880" y="2395728"/>
            <a:ext cx="685800" cy="0"/>
          </a:xfrm>
          <a:prstGeom prst="line">
            <a:avLst/>
          </a:prstGeom>
          <a:ln w="22860">
            <a:solidFill>
              <a:srgbClr val="E78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3977639"/>
            <a:ext cx="9875520" cy="1508760"/>
          </a:xfrm>
          <a:prstGeom prst="rect">
            <a:avLst/>
          </a:prstGeom>
          <a:noFill/>
        </p:spPr>
        <p:txBody>
          <a:bodyPr wrap="square" lIns="109728" rIns="45720">
            <a:spAutoFit/>
          </a:bodyPr>
          <a:lstStyle/>
          <a:p>
            <a:pPr marL="360" indent="-180">
              <a:spcAft>
                <a:spcPts val="800"/>
              </a:spcAft>
              <a:defRPr sz="1800">
                <a:solidFill>
                  <a:srgbClr val="DCE6F5"/>
                </a:solidFill>
                <a:latin typeface="Microsoft YaHei"/>
              </a:defRPr>
            </a:pPr>
            <a:r>
              <a:t>•  nonce 不是秘密，但同一会话密钥下不能重复</a:t>
            </a:r>
          </a:p>
          <a:p>
            <a:pPr marL="360" indent="-180">
              <a:spcAft>
                <a:spcPts val="800"/>
              </a:spcAft>
              <a:defRPr sz="1800">
                <a:solidFill>
                  <a:srgbClr val="DCE6F5"/>
                </a:solidFill>
                <a:latin typeface="Microsoft YaHei"/>
              </a:defRPr>
            </a:pPr>
            <a:r>
              <a:t>•  tag 用来检测密文、nonce 或 AAD 是否被篡改</a:t>
            </a:r>
          </a:p>
          <a:p>
            <a:pPr marL="360" indent="-180">
              <a:spcAft>
                <a:spcPts val="800"/>
              </a:spcAft>
              <a:defRPr sz="1800">
                <a:solidFill>
                  <a:srgbClr val="DCE6F5"/>
                </a:solidFill>
                <a:latin typeface="Microsoft YaHei"/>
              </a:defRPr>
            </a:pPr>
            <a:r>
              <a:t>•  项目把 sender:recipient 作为 AAD，防止密文被换收件人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3819A"/>
                </a:solidFill>
                <a:latin typeface="Microsoft YaHei"/>
              </a:rPr>
              <a:t>SECURE RELAY CHAT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Ed25519 与六位安全码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051560" cy="45720"/>
          </a:xfrm>
          <a:prstGeom prst="rect">
            <a:avLst/>
          </a:prstGeom>
          <a:solidFill>
            <a:srgbClr val="28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AB7CF"/>
                </a:solidFill>
                <a:latin typeface="Microsoft YaHei"/>
              </a:rPr>
              <a:t>数字签名回答‘谁发的’，安全码帮助用户回答‘是不是那个人’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2514600" cy="1097280"/>
          </a:xfrm>
          <a:prstGeom prst="roundRect">
            <a:avLst/>
          </a:prstGeom>
          <a:solidFill>
            <a:srgbClr val="3A2F25"/>
          </a:solidFill>
          <a:ln w="12700">
            <a:solidFill>
              <a:srgbClr val="E78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Ed25519 私钥
签名摘要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691640"/>
            <a:ext cx="3977639" cy="1097280"/>
          </a:xfrm>
          <a:prstGeom prst="roundRect">
            <a:avLst/>
          </a:prstGeom>
          <a:solidFill>
            <a:srgbClr val="1A2B49"/>
          </a:solidFill>
          <a:ln w="12700">
            <a:solidFill>
              <a:srgbClr val="6B8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消息摘要
SHA-256(nonce + ciphertext + AAD)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691640"/>
            <a:ext cx="2057400" cy="1097280"/>
          </a:xfrm>
          <a:prstGeom prst="roundRect">
            <a:avLst/>
          </a:prstGeom>
          <a:solidFill>
            <a:srgbClr val="183C4A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签名
64 字节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240280"/>
            <a:ext cx="640079" cy="0"/>
          </a:xfrm>
          <a:prstGeom prst="line">
            <a:avLst/>
          </a:prstGeom>
          <a:ln w="22860">
            <a:solidFill>
              <a:srgbClr val="E78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55279" y="2240280"/>
            <a:ext cx="594361" cy="0"/>
          </a:xfrm>
          <a:prstGeom prst="line">
            <a:avLst/>
          </a:prstGeom>
          <a:ln w="22860">
            <a:solidFill>
              <a:srgbClr val="28D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3703320"/>
            <a:ext cx="5303520" cy="1234440"/>
          </a:xfrm>
          <a:prstGeom prst="roundRect">
            <a:avLst/>
          </a:prstGeom>
          <a:solidFill>
            <a:srgbClr val="183C4A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双方长期身份公钥
归一化后计算 SHA-256
取 6 位数字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40680"/>
            <a:ext cx="99669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8D7C3"/>
                </a:solidFill>
                <a:latin typeface="Microsoft YaHei"/>
              </a:rPr>
              <a:t>通过电话或面对面比较安全码，可发现服务器替换公钥的中间人攻击。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3819A"/>
                </a:solidFill>
                <a:latin typeface="Microsoft YaHei"/>
              </a:rPr>
              <a:t>SECURE RELAY CHAT  /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消息接收顺序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051560" cy="45720"/>
          </a:xfrm>
          <a:prstGeom prst="rect">
            <a:avLst/>
          </a:prstGeom>
          <a:solidFill>
            <a:srgbClr val="28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AB7CF"/>
                </a:solidFill>
                <a:latin typeface="Microsoft YaHei"/>
              </a:rPr>
              <a:t>项目明确要求先验签，再解密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72768"/>
            <a:ext cx="566928" cy="566928"/>
          </a:xfrm>
          <a:prstGeom prst="roundRect">
            <a:avLst/>
          </a:prstGeom>
          <a:solidFill>
            <a:srgbClr val="28D7C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32B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91056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解析 envelope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609344"/>
            <a:ext cx="51206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6C7E5"/>
                </a:solidFill>
                <a:latin typeface="Microsoft YaHei"/>
              </a:rPr>
              <a:t>字段和 Base64 长度先校验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97864" y="2139696"/>
            <a:ext cx="0" cy="512064"/>
          </a:xfrm>
          <a:prstGeom prst="line">
            <a:avLst/>
          </a:prstGeom>
          <a:ln w="17780"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2715768"/>
            <a:ext cx="566928" cy="566928"/>
          </a:xfrm>
          <a:prstGeom prst="roundRect">
            <a:avLst/>
          </a:prstGeom>
          <a:solidFill>
            <a:srgbClr val="28D7C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32B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34056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验 Ed25519 签名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752344"/>
            <a:ext cx="51206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6C7E5"/>
                </a:solidFill>
                <a:latin typeface="Microsoft YaHei"/>
              </a:rPr>
              <a:t>失败就拒绝消息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97864" y="3282696"/>
            <a:ext cx="0" cy="512063"/>
          </a:xfrm>
          <a:prstGeom prst="line">
            <a:avLst/>
          </a:prstGeom>
          <a:ln w="17780"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3858768"/>
            <a:ext cx="566928" cy="566928"/>
          </a:xfrm>
          <a:prstGeom prst="roundRect">
            <a:avLst/>
          </a:prstGeom>
          <a:solidFill>
            <a:srgbClr val="E78E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32B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77055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AES-GCM 解密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3895344"/>
            <a:ext cx="51206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6C7E5"/>
                </a:solidFill>
                <a:latin typeface="Microsoft YaHei"/>
              </a:rPr>
              <a:t>tag 失败就拒绝消息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97864" y="4425696"/>
            <a:ext cx="0" cy="512063"/>
          </a:xfrm>
          <a:prstGeom prst="line">
            <a:avLst/>
          </a:prstGeom>
          <a:ln w="17780"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5001768"/>
            <a:ext cx="566928" cy="566928"/>
          </a:xfrm>
          <a:prstGeom prst="roundRect">
            <a:avLst/>
          </a:prstGeom>
          <a:solidFill>
            <a:srgbClr val="E78E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32B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20055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打印明文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5038344"/>
            <a:ext cx="51206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6C7E5"/>
                </a:solidFill>
                <a:latin typeface="Microsoft YaHei"/>
              </a:rPr>
              <a:t>只有通过前面检查才执行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897880"/>
            <a:ext cx="80467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78E42"/>
                </a:solidFill>
                <a:latin typeface="Microsoft YaHei"/>
              </a:rPr>
              <a:t>先确认来源和完整性，再把密文交给解密逻辑。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3819A"/>
                </a:solidFill>
                <a:latin typeface="Microsoft YaHei"/>
              </a:rPr>
              <a:t>SECURE RELAY CHAT  / 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能保护什么，不能保护什么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051560" cy="45720"/>
          </a:xfrm>
          <a:prstGeom prst="rect">
            <a:avLst/>
          </a:prstGeom>
          <a:solidFill>
            <a:srgbClr val="28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AB7CF"/>
                </a:solidFill>
                <a:latin typeface="Microsoft YaHei"/>
              </a:rPr>
              <a:t>把演示目标和生产级系统区分开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4754880" cy="2926080"/>
          </a:xfrm>
          <a:prstGeom prst="roundRect">
            <a:avLst/>
          </a:prstGeom>
          <a:solidFill>
            <a:srgbClr val="183C4A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本项目做到
消息保密
篡改可检测
消息来源可验证
用户可发现公钥替换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554480"/>
            <a:ext cx="4754880" cy="2926080"/>
          </a:xfrm>
          <a:prstGeom prst="roundRect">
            <a:avLst/>
          </a:prstGeom>
          <a:solidFill>
            <a:srgbClr val="3A2F25"/>
          </a:solidFill>
          <a:ln w="12700">
            <a:solidFill>
              <a:srgbClr val="E78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本项目没有做到
Double Ratchet 前向保密
离线消息与多设备
群聊与文件传输
生产级安全审计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578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B6C7E5"/>
                </a:solidFill>
                <a:latin typeface="Microsoft YaHei"/>
              </a:rPr>
              <a:t>安全性来自密码学、密钥管理和用户确认共同作用，不能只看某一个算法名称。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3819A"/>
                </a:solidFill>
                <a:latin typeface="Microsoft YaHei"/>
              </a:rPr>
              <a:t>SECURE RELAY CHAT  /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汇报总结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051560" cy="45720"/>
          </a:xfrm>
          <a:prstGeom prst="rect">
            <a:avLst/>
          </a:prstGeom>
          <a:solidFill>
            <a:srgbClr val="28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AB7CF"/>
                </a:solidFill>
                <a:latin typeface="Microsoft YaHei"/>
              </a:rPr>
              <a:t>一条主线记住这个项目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28D7C3"/>
                </a:solidFill>
                <a:latin typeface="Microsoft YaHei"/>
              </a:rPr>
              <a:t>协商共同秘密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5448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28D7C3"/>
                </a:solidFill>
                <a:latin typeface="Microsoft YaHei"/>
              </a:rPr>
              <a:t>保护消息内容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55448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E78E42"/>
                </a:solidFill>
                <a:latin typeface="Microsoft YaHei"/>
              </a:rPr>
              <a:t>证明消息来源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55448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E78E42"/>
                </a:solidFill>
                <a:latin typeface="Microsoft YaHei"/>
              </a:rPr>
              <a:t>确认真实身份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1920240" cy="777240"/>
          </a:xfrm>
          <a:prstGeom prst="roundRect">
            <a:avLst/>
          </a:prstGeom>
          <a:solidFill>
            <a:srgbClr val="1A2B49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X25519 + HKDF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148840"/>
            <a:ext cx="1920240" cy="777240"/>
          </a:xfrm>
          <a:prstGeom prst="roundRect">
            <a:avLst/>
          </a:prstGeom>
          <a:solidFill>
            <a:srgbClr val="1A2B49"/>
          </a:solidFill>
          <a:ln w="12700">
            <a:solidFill>
              <a:srgbClr val="28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AES-256-GCM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148840"/>
            <a:ext cx="1920240" cy="777240"/>
          </a:xfrm>
          <a:prstGeom prst="roundRect">
            <a:avLst/>
          </a:prstGeom>
          <a:solidFill>
            <a:srgbClr val="1A2B49"/>
          </a:solidFill>
          <a:ln w="12700">
            <a:solidFill>
              <a:srgbClr val="E78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Ed25519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148840"/>
            <a:ext cx="1920240" cy="777240"/>
          </a:xfrm>
          <a:prstGeom prst="roundRect">
            <a:avLst/>
          </a:prstGeom>
          <a:solidFill>
            <a:srgbClr val="1A2B49"/>
          </a:solidFill>
          <a:ln w="12700">
            <a:solidFill>
              <a:srgbClr val="E78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安全码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102412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服务器只转发，客户端完成协商、加密、认证与解密。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28D7C3"/>
                </a:solidFill>
                <a:latin typeface="Microsoft YaHei"/>
              </a:rPr>
              <a:t>这就是端到端加密演示的核心思想：把信任边界放回通信双方。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